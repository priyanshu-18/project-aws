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5029200" cy="50292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206240"/>
            <a:ext cx="4023360" cy="4023360"/>
          </a:xfrm>
          <a:prstGeom prst="ellipse">
            <a:avLst/>
          </a:prstGeom>
          <a:solidFill>
            <a:srgbClr val="00A896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914400"/>
            <a:ext cx="1051560" cy="10515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icon_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5334" y="1166774"/>
            <a:ext cx="546811" cy="54681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331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SECURING WEBSITES WITH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77240" y="274320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HTTPS Certificates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822960" y="37947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9D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project on encrypting web traffic, verifying identity, and building user trust with SSL/TLS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2960" y="4572000"/>
            <a:ext cx="20116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4709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A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with Plain HTTP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Unencrypted traffic exposes users and businesses to serious risk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480560"/>
          </a:xfrm>
          <a:prstGeom prst="roundRect">
            <a:avLst>
              <a:gd name="adj" fmla="val 2449"/>
            </a:avLst>
          </a:prstGeom>
          <a:solidFill>
            <a:srgbClr val="FDECEC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11680"/>
            <a:ext cx="685800" cy="685800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6" name="Image 0" descr="icon_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17627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1031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B2C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 — Unsecured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14400" y="2743200"/>
            <a:ext cx="47091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✗"/>
            </a:pPr>
            <a:r>
              <a:rPr lang="en-US" sz="1400" dirty="0">
                <a:solidFill>
                  <a:srgbClr val="6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travels as plain text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✗"/>
            </a:pPr>
            <a:r>
              <a:rPr lang="en-US" sz="1400" dirty="0">
                <a:solidFill>
                  <a:srgbClr val="6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&amp; card numbers can be intercepted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✗"/>
            </a:pPr>
            <a:r>
              <a:rPr lang="en-US" sz="1400" dirty="0">
                <a:solidFill>
                  <a:srgbClr val="6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verification of website identity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✗"/>
            </a:pPr>
            <a:r>
              <a:rPr lang="en-US" sz="1400" dirty="0">
                <a:solidFill>
                  <a:srgbClr val="6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to man-in-the-middle attacks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✗"/>
            </a:pPr>
            <a:r>
              <a:rPr lang="en-US" sz="1400" dirty="0">
                <a:solidFill>
                  <a:srgbClr val="6B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Browsers flag it “Not Secure”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63640" y="1691640"/>
            <a:ext cx="5349240" cy="4480560"/>
          </a:xfrm>
          <a:prstGeom prst="roundRect">
            <a:avLst>
              <a:gd name="adj" fmla="val 2449"/>
            </a:avLst>
          </a:prstGeom>
          <a:solidFill>
            <a:srgbClr val="E7F7F3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0" y="201168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icon_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8272" y="217627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21031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56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HTTPS — Secured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629400" y="2743200"/>
            <a:ext cx="47091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✓"/>
            </a:pPr>
            <a:r>
              <a:rPr lang="en-US" sz="1400" dirty="0">
                <a:solidFill>
                  <a:srgbClr val="0B4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encrypted end-to-end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✓"/>
            </a:pPr>
            <a:r>
              <a:rPr lang="en-US" sz="1400" dirty="0">
                <a:solidFill>
                  <a:srgbClr val="0B4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information stays private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✓"/>
            </a:pPr>
            <a:r>
              <a:rPr lang="en-US" sz="1400" dirty="0">
                <a:solidFill>
                  <a:srgbClr val="0B4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proves site identity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✓"/>
            </a:pPr>
            <a:r>
              <a:rPr lang="en-US" sz="1400" dirty="0">
                <a:solidFill>
                  <a:srgbClr val="0B4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against tampering &amp; spoofing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✓"/>
            </a:pPr>
            <a:r>
              <a:rPr lang="en-US" sz="1400" dirty="0">
                <a:solidFill>
                  <a:srgbClr val="0B4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Browsers show a padlock icon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Securing Websites with HTTPS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 SSL/TLS Certificate?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86400" cy="4892040"/>
          </a:xfrm>
          <a:prstGeom prst="roundRect">
            <a:avLst>
              <a:gd name="adj" fmla="val 2243"/>
            </a:avLst>
          </a:prstGeom>
          <a:solidFill>
            <a:srgbClr val="F7FAFA"/>
          </a:solidFill>
          <a:ln w="12700">
            <a:solidFill>
              <a:srgbClr val="DCE7E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60020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icon_c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910" y="1797710"/>
            <a:ext cx="427939" cy="427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6060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digital file that binds a cryptographic key to an organization’s details — issued by a trusted Certificate Authority (CA).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914400" y="3886200"/>
            <a:ext cx="47548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the public key &amp; domain name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Digitally signed by the CA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 defined validity period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the browser padlock &amp; “https://”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400800" y="13258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Certificate Types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400800" y="1783080"/>
            <a:ext cx="822960" cy="45720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0" y="17830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360920" y="1728216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Validated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360920" y="2002536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domain ownership only — fast to issue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400800" y="2834640"/>
            <a:ext cx="822960" cy="45720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0" y="28346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360920" y="2779776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Validated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7360920" y="3054096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the business behind the domain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400800" y="3886200"/>
            <a:ext cx="822960" cy="45720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0" y="388620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360920" y="3831336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Validation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7360920" y="4105656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Rigorous vetting — highest trust level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400800" y="4937760"/>
            <a:ext cx="822960" cy="45720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/>
        </p:spPr>
      </p:sp>
      <p:sp>
        <p:nvSpPr>
          <p:cNvPr id="22" name="Text 19"/>
          <p:cNvSpPr/>
          <p:nvPr/>
        </p:nvSpPr>
        <p:spPr>
          <a:xfrm>
            <a:off x="6400800" y="49377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Wildcard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360920" y="4882896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Wildcard / Multi-domain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7360920" y="5157216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Secures a domain and all its subdomains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Securing Websites with HTTPS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HTTPS Works: The TLS Handshake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B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secure session is negotiated before any page data is sent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1920240"/>
            <a:ext cx="2090867" cy="4023360"/>
          </a:xfrm>
          <a:prstGeom prst="roundRect">
            <a:avLst>
              <a:gd name="adj" fmla="val 4373"/>
            </a:avLst>
          </a:prstGeom>
          <a:solidFill>
            <a:srgbClr val="0F3B41"/>
          </a:solidFill>
          <a:ln/>
        </p:spPr>
      </p:sp>
      <p:sp>
        <p:nvSpPr>
          <p:cNvPr id="5" name="Shape 3"/>
          <p:cNvSpPr/>
          <p:nvPr/>
        </p:nvSpPr>
        <p:spPr>
          <a:xfrm>
            <a:off x="1347186" y="2194560"/>
            <a:ext cx="585216" cy="5852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1347186" y="219456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971800"/>
            <a:ext cx="1816547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Hello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58952" y="3657600"/>
            <a:ext cx="1761683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B9D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requests a secure connection &amp; lists supported encryption methods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2666939" y="2057400"/>
            <a:ext cx="320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822387" y="1920240"/>
            <a:ext cx="2090867" cy="4023360"/>
          </a:xfrm>
          <a:prstGeom prst="roundRect">
            <a:avLst>
              <a:gd name="adj" fmla="val 4373"/>
            </a:avLst>
          </a:prstGeom>
          <a:solidFill>
            <a:srgbClr val="0F3B41"/>
          </a:solidFill>
          <a:ln/>
        </p:spPr>
      </p:sp>
      <p:sp>
        <p:nvSpPr>
          <p:cNvPr id="11" name="Shape 9"/>
          <p:cNvSpPr/>
          <p:nvPr/>
        </p:nvSpPr>
        <p:spPr>
          <a:xfrm>
            <a:off x="3575213" y="2194560"/>
            <a:ext cx="585216" cy="5852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3575213" y="219456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959547" y="2971800"/>
            <a:ext cx="1816547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Responds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986979" y="3657600"/>
            <a:ext cx="1761683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B9D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sends its SSL certificate and public key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4894966" y="2057400"/>
            <a:ext cx="320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050414" y="1920240"/>
            <a:ext cx="2090867" cy="4023360"/>
          </a:xfrm>
          <a:prstGeom prst="roundRect">
            <a:avLst>
              <a:gd name="adj" fmla="val 4373"/>
            </a:avLst>
          </a:prstGeom>
          <a:solidFill>
            <a:srgbClr val="0F3B41"/>
          </a:solidFill>
          <a:ln/>
        </p:spPr>
      </p:sp>
      <p:sp>
        <p:nvSpPr>
          <p:cNvPr id="17" name="Shape 15"/>
          <p:cNvSpPr/>
          <p:nvPr/>
        </p:nvSpPr>
        <p:spPr>
          <a:xfrm>
            <a:off x="5803240" y="2194560"/>
            <a:ext cx="585216" cy="5852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5803240" y="219456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187574" y="2971800"/>
            <a:ext cx="1816547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215006" y="3657600"/>
            <a:ext cx="1761683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B9D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checks the certificate against trusted CAs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7122993" y="2057400"/>
            <a:ext cx="320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278441" y="1920240"/>
            <a:ext cx="2090867" cy="4023360"/>
          </a:xfrm>
          <a:prstGeom prst="roundRect">
            <a:avLst>
              <a:gd name="adj" fmla="val 4373"/>
            </a:avLst>
          </a:prstGeom>
          <a:solidFill>
            <a:srgbClr val="0F3B41"/>
          </a:solidFill>
          <a:ln/>
        </p:spPr>
      </p:sp>
      <p:sp>
        <p:nvSpPr>
          <p:cNvPr id="23" name="Shape 21"/>
          <p:cNvSpPr/>
          <p:nvPr/>
        </p:nvSpPr>
        <p:spPr>
          <a:xfrm>
            <a:off x="8031267" y="2194560"/>
            <a:ext cx="585216" cy="5852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4" name="Text 22"/>
          <p:cNvSpPr/>
          <p:nvPr/>
        </p:nvSpPr>
        <p:spPr>
          <a:xfrm>
            <a:off x="8031267" y="219456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415601" y="2971800"/>
            <a:ext cx="1816547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Exchange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443033" y="3657600"/>
            <a:ext cx="1761683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B9D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session key is generated and encrypted with the public key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9351020" y="2057400"/>
            <a:ext cx="320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9506468" y="1920240"/>
            <a:ext cx="2090867" cy="4023360"/>
          </a:xfrm>
          <a:prstGeom prst="roundRect">
            <a:avLst>
              <a:gd name="adj" fmla="val 4373"/>
            </a:avLst>
          </a:prstGeom>
          <a:solidFill>
            <a:srgbClr val="0F3B41"/>
          </a:solidFill>
          <a:ln/>
        </p:spPr>
      </p:sp>
      <p:sp>
        <p:nvSpPr>
          <p:cNvPr id="29" name="Shape 27"/>
          <p:cNvSpPr/>
          <p:nvPr/>
        </p:nvSpPr>
        <p:spPr>
          <a:xfrm>
            <a:off x="10259294" y="2194560"/>
            <a:ext cx="585216" cy="5852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0" name="Text 28"/>
          <p:cNvSpPr/>
          <p:nvPr/>
        </p:nvSpPr>
        <p:spPr>
          <a:xfrm>
            <a:off x="10259294" y="219456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9643628" y="2971800"/>
            <a:ext cx="1816547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Session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9671060" y="3657600"/>
            <a:ext cx="1761683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B9D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further data is encrypted — the padlock appears</a:t>
            </a:r>
            <a:endParaRPr lang="en-US" sz="108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FA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Securing Websites with HTTPS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A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set out to achieve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7FAFA"/>
          </a:solidFill>
          <a:ln w="12700">
            <a:solidFill>
              <a:srgbClr val="DCE7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1168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icon_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498" y="2198218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01168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Identify the Gap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828800" y="2468880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the website’s existing HTTP setup and pinpoint security weaknesses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72200" y="169164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7FAFA"/>
          </a:solidFill>
          <a:ln w="12700">
            <a:solidFill>
              <a:srgbClr val="DCE7E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46520" y="2011680"/>
            <a:ext cx="777240" cy="7772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icon_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3058" y="2198218"/>
            <a:ext cx="404165" cy="4041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201168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 a Certificate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7452360" y="2468880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right CA and certificate type for the site’s needs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416052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7FAFA"/>
          </a:solidFill>
          <a:ln w="12700">
            <a:solidFill>
              <a:srgbClr val="DCE7E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2960" y="448056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icon_cog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8" y="4667098"/>
            <a:ext cx="404165" cy="4041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48056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 HTTPS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1828800" y="4937760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certificate, configure the server, and enforce encrypted connections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72200" y="416052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7FAFA"/>
          </a:solidFill>
          <a:ln w="12700">
            <a:solidFill>
              <a:srgbClr val="DCE7E7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46520" y="4480560"/>
            <a:ext cx="777240" cy="7772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1" name="Image 3" descr="icon_clip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3058" y="4667098"/>
            <a:ext cx="404165" cy="40416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52360" y="448056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 &amp; Test</a:t>
            </a:r>
            <a:endParaRPr lang="en-US" sz="1650" dirty="0"/>
          </a:p>
        </p:txBody>
      </p:sp>
      <p:sp>
        <p:nvSpPr>
          <p:cNvPr id="23" name="Text 17"/>
          <p:cNvSpPr/>
          <p:nvPr/>
        </p:nvSpPr>
        <p:spPr>
          <a:xfrm>
            <a:off x="7452360" y="4937760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padlock, redirect rules, and encryption strength are all working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Securing Websites with HTTPS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Steps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bare domain to a fully secured site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07008" y="1691640"/>
            <a:ext cx="4690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CSR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207008" y="2075688"/>
            <a:ext cx="46908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Certificate Signing Request with the server’s public key and domain details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178308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617220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30568" y="1691640"/>
            <a:ext cx="4690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&amp; Order a Certificate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830568" y="2075688"/>
            <a:ext cx="46908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 CA (e.g. Let’s Encrypt, DigiCert) and submit the CSR for validation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429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07008" y="3337560"/>
            <a:ext cx="4690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Validation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207008" y="3721608"/>
            <a:ext cx="46908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verifies ownership via DNS record, email, or file upload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72200" y="34290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6172200" y="3429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30568" y="3337560"/>
            <a:ext cx="4690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on the Server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830568" y="3721608"/>
            <a:ext cx="46908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certificate and private key to the web server (Apache / Nginx / IIS)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0749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074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07008" y="4983480"/>
            <a:ext cx="4690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Site Configuration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207008" y="5367528"/>
            <a:ext cx="46908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 port 443, update internal links, and force HTTP → HTTPS redirects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72200" y="507492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6172200" y="5074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30568" y="4983480"/>
            <a:ext cx="4690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&amp; Monitor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830568" y="5367528"/>
            <a:ext cx="46908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an SSL check, confirm the padlock, and set a renewal reminder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Securing Websites with HTTPS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 Used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B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 behind the implementation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0F3B41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20240"/>
            <a:ext cx="594360" cy="5943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6" name="Image 0" descr="icon_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2062886"/>
            <a:ext cx="309067" cy="30906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6060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Server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7240" y="292608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C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/ Nginx / IIS to host the site and terminate TLS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97680" y="169164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0F3B41"/>
          </a:solidFill>
          <a:ln/>
        </p:spPr>
      </p:sp>
      <p:sp>
        <p:nvSpPr>
          <p:cNvPr id="10" name="Shape 7"/>
          <p:cNvSpPr/>
          <p:nvPr/>
        </p:nvSpPr>
        <p:spPr>
          <a:xfrm>
            <a:off x="4526280" y="1920240"/>
            <a:ext cx="594360" cy="5943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1" name="Image 1" descr="icon_ce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8926" y="2062886"/>
            <a:ext cx="309067" cy="30906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26280" y="26060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Authority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26280" y="292608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C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Let’s Encrypt, DigiCert, or Sectigo to issue the certificate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046720" y="169164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0F3B41"/>
          </a:solidFill>
          <a:ln/>
        </p:spPr>
      </p:sp>
      <p:sp>
        <p:nvSpPr>
          <p:cNvPr id="15" name="Shape 11"/>
          <p:cNvSpPr/>
          <p:nvPr/>
        </p:nvSpPr>
        <p:spPr>
          <a:xfrm>
            <a:off x="8275320" y="1920240"/>
            <a:ext cx="594360" cy="5943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6" name="Image 2" descr="icon_ke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7966" y="2062886"/>
            <a:ext cx="309067" cy="30906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75320" y="26060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OpenSSL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275320" y="292608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C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keys, CSRs, and verify certificate chains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88620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0F3B41"/>
          </a:solidFill>
          <a:ln/>
        </p:spPr>
      </p:sp>
      <p:sp>
        <p:nvSpPr>
          <p:cNvPr id="20" name="Shape 15"/>
          <p:cNvSpPr/>
          <p:nvPr/>
        </p:nvSpPr>
        <p:spPr>
          <a:xfrm>
            <a:off x="777240" y="4114800"/>
            <a:ext cx="594360" cy="5943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1" name="Image 3" descr="icon_glob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886" y="4257446"/>
            <a:ext cx="309067" cy="30906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" y="48006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Provider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77240" y="512064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C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domain records used for validation and redirects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297680" y="388620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0F3B41"/>
          </a:solidFill>
          <a:ln/>
        </p:spPr>
      </p:sp>
      <p:sp>
        <p:nvSpPr>
          <p:cNvPr id="25" name="Shape 19"/>
          <p:cNvSpPr/>
          <p:nvPr/>
        </p:nvSpPr>
        <p:spPr>
          <a:xfrm>
            <a:off x="4526280" y="4114800"/>
            <a:ext cx="594360" cy="5943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6" name="Image 4" descr="icon_searc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8926" y="4257446"/>
            <a:ext cx="309067" cy="30906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26280" y="48006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Labs Test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526280" y="512064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C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 grade the final configuration’s strength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046720" y="388620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0F3B41"/>
          </a:solidFill>
          <a:ln/>
        </p:spPr>
      </p:sp>
      <p:sp>
        <p:nvSpPr>
          <p:cNvPr id="30" name="Shape 23"/>
          <p:cNvSpPr/>
          <p:nvPr/>
        </p:nvSpPr>
        <p:spPr>
          <a:xfrm>
            <a:off x="8275320" y="4114800"/>
            <a:ext cx="594360" cy="5943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1" name="Image 5" descr="icon_handshak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7966" y="4257446"/>
            <a:ext cx="309067" cy="30906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275320" y="480060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DevTools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275320" y="512064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FC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the certificate chain and connection security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FA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Securing Websites with HTTPS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A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Implementing HTTPS on AWS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same workflow maps to managed AWS services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7FAFA"/>
          </a:solidFill>
          <a:ln w="12700">
            <a:solidFill>
              <a:srgbClr val="DCE7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2880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icon_c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971446"/>
            <a:ext cx="309067" cy="30906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56032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Certificate Manager (ACM)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301752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and auto-renews free public SSL/TLS certificates — no manual CSR or OpenSSL needed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97680" y="160020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7FAFA"/>
          </a:solidFill>
          <a:ln w="12700">
            <a:solidFill>
              <a:srgbClr val="DCE7E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26280" y="182880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icon_rou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8926" y="1971446"/>
            <a:ext cx="309067" cy="30906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26280" y="256032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53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26280" y="301752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DNS and performs domain validation for ACM certificates automatically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046720" y="160020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7FAFA"/>
          </a:solidFill>
          <a:ln w="12700">
            <a:solidFill>
              <a:srgbClr val="DCE7E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75320" y="182880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icon_netwo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7966" y="1971446"/>
            <a:ext cx="309067" cy="30906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75320" y="256032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 (CDN)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275320" y="301752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Terminates HTTPS at edge locations worldwide; attaches the ACM certificate for the distribution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402336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7FAFA"/>
          </a:solidFill>
          <a:ln w="12700">
            <a:solidFill>
              <a:srgbClr val="DCE7E7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77240" y="425196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1" name="Image 3" descr="icon_balanc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886" y="4394606"/>
            <a:ext cx="309067" cy="30906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" y="498348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Load Balancer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77240" y="544068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Terminates SSL for backend EC2 instances and forwards decrypted traffic internally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297680" y="402336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7FAFA"/>
          </a:solidFill>
          <a:ln w="12700">
            <a:solidFill>
              <a:srgbClr val="DCE7E7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26280" y="425196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6" name="Image 4" descr="icon_clou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8926" y="4394606"/>
            <a:ext cx="309067" cy="30906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26280" y="498348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Static Hosting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526280" y="544068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with CloudFront + ACM to serve static sites securely over HTTPS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046720" y="402336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7FAFA"/>
          </a:solidFill>
          <a:ln w="12700">
            <a:solidFill>
              <a:srgbClr val="DCE7E7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275320" y="425196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1" name="Image 5" descr="icon_sync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7966" y="4394606"/>
            <a:ext cx="309067" cy="30906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275320" y="498348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Auto-Renewal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8275320" y="544068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 renews certificates automatically before expiry — removes a common HTTPS failure point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Securing Websites with HTTPS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Reference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B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encrypted request flow, fully managed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69468" y="2194560"/>
            <a:ext cx="2286000" cy="3017520"/>
          </a:xfrm>
          <a:prstGeom prst="roundRect">
            <a:avLst>
              <a:gd name="adj" fmla="val 4800"/>
            </a:avLst>
          </a:prstGeom>
          <a:solidFill>
            <a:srgbClr val="0F3B41"/>
          </a:solidFill>
          <a:ln/>
        </p:spPr>
      </p:sp>
      <p:sp>
        <p:nvSpPr>
          <p:cNvPr id="5" name="Shape 3"/>
          <p:cNvSpPr/>
          <p:nvPr/>
        </p:nvSpPr>
        <p:spPr>
          <a:xfrm>
            <a:off x="1500988" y="251460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6" name="Image 0" descr="icon_rou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8498" y="271211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79196" y="3566160"/>
            <a:ext cx="2066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53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34060" y="3977640"/>
            <a:ext cx="195681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9D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User’s DNS query resolves to the app endpoint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055468" y="342900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3558388" y="2194560"/>
            <a:ext cx="2286000" cy="3017520"/>
          </a:xfrm>
          <a:prstGeom prst="roundRect">
            <a:avLst>
              <a:gd name="adj" fmla="val 4800"/>
            </a:avLst>
          </a:prstGeom>
          <a:solidFill>
            <a:srgbClr val="0F3B41"/>
          </a:solidFill>
          <a:ln/>
        </p:spPr>
      </p:sp>
      <p:sp>
        <p:nvSpPr>
          <p:cNvPr id="11" name="Shape 8"/>
          <p:cNvSpPr/>
          <p:nvPr/>
        </p:nvSpPr>
        <p:spPr>
          <a:xfrm>
            <a:off x="4289908" y="251460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2" name="Image 1" descr="icon_netwo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7418" y="2712110"/>
            <a:ext cx="427939" cy="42793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68116" y="3566160"/>
            <a:ext cx="2066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CloudFront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722980" y="3977640"/>
            <a:ext cx="195681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9D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location terminates HTTPS using the ACM certificate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5844388" y="342900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6347308" y="2194560"/>
            <a:ext cx="2286000" cy="3017520"/>
          </a:xfrm>
          <a:prstGeom prst="roundRect">
            <a:avLst>
              <a:gd name="adj" fmla="val 4800"/>
            </a:avLst>
          </a:prstGeom>
          <a:solidFill>
            <a:srgbClr val="0F3B41"/>
          </a:solidFill>
          <a:ln/>
        </p:spPr>
      </p:sp>
      <p:sp>
        <p:nvSpPr>
          <p:cNvPr id="17" name="Shape 13"/>
          <p:cNvSpPr/>
          <p:nvPr/>
        </p:nvSpPr>
        <p:spPr>
          <a:xfrm>
            <a:off x="7078828" y="251460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8" name="Image 2" descr="icon_balan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6338" y="2712110"/>
            <a:ext cx="427939" cy="42793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57036" y="3566160"/>
            <a:ext cx="2066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ALB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511900" y="3977640"/>
            <a:ext cx="195681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9D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balancer re-encrypts / terminates SSL and routes to healthy targets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8633308" y="342900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17"/>
          <p:cNvSpPr/>
          <p:nvPr/>
        </p:nvSpPr>
        <p:spPr>
          <a:xfrm>
            <a:off x="9136228" y="2194560"/>
            <a:ext cx="2286000" cy="3017520"/>
          </a:xfrm>
          <a:prstGeom prst="roundRect">
            <a:avLst>
              <a:gd name="adj" fmla="val 4800"/>
            </a:avLst>
          </a:prstGeom>
          <a:solidFill>
            <a:srgbClr val="0F3B41"/>
          </a:solidFill>
          <a:ln/>
        </p:spPr>
      </p:sp>
      <p:sp>
        <p:nvSpPr>
          <p:cNvPr id="23" name="Shape 18"/>
          <p:cNvSpPr/>
          <p:nvPr/>
        </p:nvSpPr>
        <p:spPr>
          <a:xfrm>
            <a:off x="9867748" y="251460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4" name="Image 3" descr="icon_serv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5258" y="2712110"/>
            <a:ext cx="427939" cy="427939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245956" y="3566160"/>
            <a:ext cx="20665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EC2 / S3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9300820" y="3977640"/>
            <a:ext cx="195681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9D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serves the actual application or static content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822960" y="5577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9FC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 issues one certificate, referenced by both CloudFront and the ALB — renewal is automatic and requires no downtime.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FA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Securing Websites with HTTPS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A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 of Applying HTTPS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943100" y="137160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icon_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8665" y="1547165"/>
            <a:ext cx="380390" cy="3803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2402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Encryption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265176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passwords, payments, and personal data in transit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692140" y="137160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8" name="Image 1" descr="icon_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705" y="1547165"/>
            <a:ext cx="380390" cy="38039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297680" y="22402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Trust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297680" y="265176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visitors are connecting to the genuine website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9441180" y="137160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2" descr="icon_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6745" y="1547165"/>
            <a:ext cx="380390" cy="38039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046720" y="22402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Ranking Boost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8046720" y="265176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engines favor HTTPS sites in results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1943100" y="397764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6" name="Image 3" descr="icon_glob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8665" y="4153205"/>
            <a:ext cx="380390" cy="38039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48640" y="484632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Compliance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548640" y="525780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“Not Secure” warnings in Chrome, Firefox, and others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5692140" y="397764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0" name="Image 4" descr="icon_ke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7705" y="4153205"/>
            <a:ext cx="380390" cy="38039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297680" y="484632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4297680" y="525780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attackers from modifying content in transit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9441180" y="397764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4" name="Image 5" descr="icon_handshak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16745" y="4153205"/>
            <a:ext cx="380390" cy="38039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8046720" y="484632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Confidence</a:t>
            </a:r>
            <a:endParaRPr lang="en-US" sz="1400" dirty="0"/>
          </a:p>
        </p:txBody>
      </p:sp>
      <p:sp>
        <p:nvSpPr>
          <p:cNvPr id="26" name="Text 18"/>
          <p:cNvSpPr/>
          <p:nvPr/>
        </p:nvSpPr>
        <p:spPr>
          <a:xfrm>
            <a:off x="8046720" y="5257800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padlock icon builds user trust and credibility</a:t>
            </a:r>
            <a:endParaRPr lang="en-US" sz="1150" dirty="0"/>
          </a:p>
        </p:txBody>
      </p:sp>
      <p:sp>
        <p:nvSpPr>
          <p:cNvPr id="27" name="Text 1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Securing Websites with HTTPS</a:t>
            </a:r>
            <a:endParaRPr lang="en-US" sz="1000" dirty="0"/>
          </a:p>
        </p:txBody>
      </p:sp>
      <p:sp>
        <p:nvSpPr>
          <p:cNvPr id="28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3840480"/>
            <a:ext cx="4572000" cy="4572000"/>
          </a:xfrm>
          <a:prstGeom prst="ellipse">
            <a:avLst/>
          </a:prstGeom>
          <a:solidFill>
            <a:srgbClr val="028090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822960"/>
            <a:ext cx="914400" cy="9144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4" name="Image 0" descr="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1042416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19202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2697480"/>
            <a:ext cx="98755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–"/>
            </a:pPr>
            <a:r>
              <a:rPr lang="en-US" sz="1550" dirty="0">
                <a:solidFill>
                  <a:srgbClr val="D7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Migrating the website from HTTP to HTTPS closed a major security gap by encrypting all client-server traffic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–"/>
            </a:pPr>
            <a:r>
              <a:rPr lang="en-US" sz="1550" dirty="0">
                <a:solidFill>
                  <a:srgbClr val="D7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SSL/TLS certificate from a trusted CA now verifies the site’s identity to every visitor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–"/>
            </a:pPr>
            <a:r>
              <a:rPr lang="en-US" sz="1550" dirty="0">
                <a:solidFill>
                  <a:srgbClr val="D7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AWS, ACM + CloudFront/ALB replace manual CSR handling with managed, auto-renewing certificates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–"/>
            </a:pPr>
            <a:r>
              <a:rPr lang="en-US" sz="1550" dirty="0">
                <a:solidFill>
                  <a:srgbClr val="D7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site passes SSL Labs testing, redirects all traffic to HTTPS, and shows the browser padlock</a:t>
            </a:r>
            <a:endParaRPr lang="en-US" sz="1550" dirty="0"/>
          </a:p>
          <a:p>
            <a:pPr marL="228600" indent="-228600">
              <a:spcAft>
                <a:spcPts val="1400"/>
              </a:spcAft>
              <a:buSzPct val="100000"/>
              <a:buChar char="–"/>
            </a:pPr>
            <a:r>
              <a:rPr lang="en-US" sz="1550" dirty="0">
                <a:solidFill>
                  <a:srgbClr val="D7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stronger data protection, improved SEO standing, and greater user trust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FA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Securing Websites with HTTPS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A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2026-08-25T06:32:39Z</dcterms:created>
  <dcterms:modified xsi:type="dcterms:W3CDTF">2026-08-25T06:32:39Z</dcterms:modified>
</cp:coreProperties>
</file>